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371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C2C79-E997-6B5F-34F9-5AC288C58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08FAC-F3FC-7FD4-B1CB-39C2F8230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987BC-FC76-A714-8EB4-698D4F325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A2736-78C8-60E3-3259-3DE6EA932F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390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262B2-C505-0E3F-AEC8-E3107DC9F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E784A5-7ABD-8C95-E05C-6C95452B4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A3944-3BE6-FE55-E6E0-AA0964A64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20BA0-75F0-D720-3B5A-76951EE436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0496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417320"/>
            <a:ext cx="850392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320040" y="4343400"/>
            <a:ext cx="850392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256032" y="1371600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56032" y="4297680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8842248" y="1371600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42248" y="4297680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A2A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環境噪音與認知表現量測系統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System for Measuring Noise-Cognition Impact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85138" y="34061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TW" sz="1400" dirty="0">
                <a:solidFill>
                  <a:srgbClr val="2A2A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B1042036 </a:t>
            </a:r>
            <a:r>
              <a:rPr lang="zh-TW" altLang="en-US" sz="1400" dirty="0">
                <a:solidFill>
                  <a:srgbClr val="2A2A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王麒茗</a:t>
            </a:r>
            <a:endParaRPr lang="en-US" sz="14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B219110-B656-68B8-8A40-FC06694B59B7}"/>
              </a:ext>
            </a:extLst>
          </p:cNvPr>
          <p:cNvSpPr/>
          <p:nvPr/>
        </p:nvSpPr>
        <p:spPr>
          <a:xfrm>
            <a:off x="1644747" y="4598965"/>
            <a:ext cx="585450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zh-TW" sz="1400" dirty="0" err="1">
                <a:solidFill>
                  <a:srgbClr val="2A2A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Github:https</a:t>
            </a:r>
            <a:r>
              <a:rPr lang="en-US" altLang="zh-TW" sz="1400" dirty="0">
                <a:solidFill>
                  <a:srgbClr val="2A2A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://github.com/Spectre0304/noise-cognition-project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49808"/>
            <a:ext cx="397764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892040" y="749808"/>
            <a:ext cx="397764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256032" y="70408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887968" y="70408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389120" y="5669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09A"/>
                </a:solidFill>
              </a:rPr>
              <a:t>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4818888"/>
            <a:ext cx="850392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256032" y="477316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8796528" y="477316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B09A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841248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A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為什麼想做這個？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11480" y="1664208"/>
            <a:ext cx="3840480" cy="384048"/>
          </a:xfrm>
          <a:prstGeom prst="rect">
            <a:avLst/>
          </a:prstGeom>
          <a:solidFill>
            <a:srgbClr val="EDE3D8"/>
          </a:solidFill>
          <a:ln w="635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11480" y="1664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前人研究的問題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2231136"/>
            <a:ext cx="164592" cy="164592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13232" y="217627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吳思俞等（2023）只在實驗室用音響控制聲音，受試者坐在固定環境中，無法反映真實學習情境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990088"/>
            <a:ext cx="164592" cy="164592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2747773"/>
            <a:ext cx="3675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噪音是研究者「播放」的，不是自然量</a:t>
            </a:r>
            <a:r>
              <a:rPr lang="zh-TW" altLang="en-US" sz="14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測</a:t>
            </a:r>
            <a:r>
              <a:rPr lang="en-US" sz="14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164592" cy="164592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13232" y="3598164"/>
            <a:ext cx="271225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沒有任何工具能在日常環境下同時記錄分貝數和認知測試成績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1664208"/>
            <a:ext cx="3840480" cy="384048"/>
          </a:xfrm>
          <a:prstGeom prst="rect">
            <a:avLst/>
          </a:prstGeom>
          <a:solidFill>
            <a:srgbClr val="EDE3D8"/>
          </a:solidFill>
          <a:ln w="635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800600" y="1664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想解決的問題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846320" y="2231136"/>
            <a:ext cx="164592" cy="164592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102352" y="2093976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用手機麥克風在真實環境（圖書館、咖啡廳）即時量測分貝，不需要任何額外設備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2990088"/>
            <a:ext cx="164592" cy="164592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5102352" y="2862071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同一個人在不同噪音下做 N-back 測試，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排除個人能力差異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3749040"/>
            <a:ext cx="164592" cy="164592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5102352" y="3614694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累積資料後，可以算出「噪音對我個人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認知表現的實際影響有多大」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49808"/>
            <a:ext cx="397764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892040" y="749808"/>
            <a:ext cx="397764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256032" y="70408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887968" y="70408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389120" y="5669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09A"/>
                </a:solidFill>
              </a:rPr>
              <a:t>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4818888"/>
            <a:ext cx="850392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256032" y="477316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8796528" y="477316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B09A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841248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A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系統架構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11480" y="1664208"/>
            <a:ext cx="2743200" cy="384048"/>
          </a:xfrm>
          <a:prstGeom prst="rect">
            <a:avLst/>
          </a:prstGeom>
          <a:solidFill>
            <a:srgbClr val="EDE3D8"/>
          </a:solidFill>
          <a:ln w="635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11480" y="16642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前端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2212848"/>
            <a:ext cx="109728" cy="10972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85800" y="21579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React Native（Expo）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109728" cy="10972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85800" y="27523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麥克風收音模組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（expo-av）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401568"/>
            <a:ext cx="109728" cy="10972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85800" y="334670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N-back 測試介面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995928"/>
            <a:ext cx="109728" cy="10972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85800" y="39410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歷史成績圖表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1664208"/>
            <a:ext cx="2743200" cy="384048"/>
          </a:xfrm>
          <a:prstGeom prst="rect">
            <a:avLst/>
          </a:prstGeom>
          <a:solidFill>
            <a:srgbClr val="EDE3D8"/>
          </a:solidFill>
          <a:ln w="635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3291840" y="16642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後端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383280" y="2212848"/>
            <a:ext cx="109728" cy="10972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566160" y="21579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FastAPI（Python）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83280" y="2807208"/>
            <a:ext cx="109728" cy="10972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3566160" y="27523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 /result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儲存每次測試結果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83280" y="3401568"/>
            <a:ext cx="109728" cy="10972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3566160" y="334670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GET /stats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計算統計分析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83280" y="3995928"/>
            <a:ext cx="109728" cy="10972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3566160" y="39410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scipy 執行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Paired t-test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1664208"/>
            <a:ext cx="2743200" cy="384048"/>
          </a:xfrm>
          <a:prstGeom prst="rect">
            <a:avLst/>
          </a:prstGeom>
          <a:solidFill>
            <a:srgbClr val="EDE3D8"/>
          </a:solidFill>
          <a:ln w="635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6172200" y="16642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資料庫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263640" y="2212848"/>
            <a:ext cx="109728" cy="10972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6446520" y="2157984"/>
            <a:ext cx="2459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SQLite </a:t>
            </a:r>
            <a:r>
              <a:rPr lang="en-US" sz="1300" dirty="0" err="1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本機儲存</a:t>
            </a:r>
            <a:r>
              <a:rPr lang="en-US" altLang="zh-TW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</a:t>
            </a:r>
            <a:r>
              <a:rPr lang="zh-TW" alt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未來改用雲端</a:t>
            </a:r>
            <a:r>
              <a:rPr lang="en-US" altLang="zh-TW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63640" y="2807208"/>
            <a:ext cx="109728" cy="10972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6446520" y="27523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每筆紀錄包含：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分貝值、聲音分類、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答對率、反應時間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49808"/>
            <a:ext cx="397764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892040" y="749808"/>
            <a:ext cx="397764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256032" y="70408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887968" y="70408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389120" y="5669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09A"/>
                </a:solidFill>
              </a:rPr>
              <a:t>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4818888"/>
            <a:ext cx="850392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256032" y="477316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8796528" y="477316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B09A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841248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A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N-back 測試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11480" y="1664208"/>
            <a:ext cx="3840480" cy="384048"/>
          </a:xfrm>
          <a:prstGeom prst="rect">
            <a:avLst/>
          </a:prstGeom>
          <a:solidFill>
            <a:srgbClr val="EDE3D8"/>
          </a:solidFill>
          <a:ln w="635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11480" y="1664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什麼是 2-back？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214884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畫面會一直出現英文字母，每次看到的字母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如果和「兩個之前」的一樣，就要按下「符合」。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例如：A → B → A（第三個 A 和第一個 A 相同，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需要按符合）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每輪測試約 30 題，全部做完大概兩分鐘。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1664208"/>
            <a:ext cx="3840480" cy="384048"/>
          </a:xfrm>
          <a:prstGeom prst="rect">
            <a:avLst/>
          </a:prstGeom>
          <a:solidFill>
            <a:srgbClr val="EDE3D8"/>
          </a:solidFill>
          <a:ln w="635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800600" y="1664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為什麼選這個測試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46320" y="2231136"/>
            <a:ext cx="146304" cy="146304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084064" y="21762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學術認可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84064" y="24231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心理學標準工作記憶測試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（Owen et al., 2005）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846320" y="2852928"/>
            <a:ext cx="146304" cy="146304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5084064" y="27980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對噪音敏感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84064" y="304495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研究證實噪音會顯著影響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N-back 成績（Perham, 2011）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46320" y="3474720"/>
            <a:ext cx="146304" cy="146304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5084064" y="3419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客觀量化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84064" y="366674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答對率與反應時間是連續數值，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可以直接做統計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46320" y="4096512"/>
            <a:ext cx="146304" cy="146304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5084064" y="40416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手機可跑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84064" y="428853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不需要特殊設備，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點螢幕就能完成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49808"/>
            <a:ext cx="397764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892040" y="749808"/>
            <a:ext cx="397764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256032" y="70408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887968" y="70408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389120" y="5669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09A"/>
                </a:solidFill>
              </a:rPr>
              <a:t>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4818888"/>
            <a:ext cx="850392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256032" y="477316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8796528" y="477316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B09A"/>
                </a:solidFill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84124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A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怎麼證明噪音真的有影響？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11480" y="1664208"/>
            <a:ext cx="5029200" cy="384048"/>
          </a:xfrm>
          <a:prstGeom prst="rect">
            <a:avLst/>
          </a:prstGeom>
          <a:solidFill>
            <a:srgbClr val="EDE3D8"/>
          </a:solidFill>
          <a:ln w="635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11480" y="16642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Within-subjects 設計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21488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同一個人，在不同的噪音環境下各做一次測試。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舉例：同學 A 在圖書館（42 dB）做測試，之後在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咖啡廳（68 dB）再做一次。成績的差異就是噪音造成的，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不是因為兩個人能力不同。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730752"/>
            <a:ext cx="5029200" cy="384048"/>
          </a:xfrm>
          <a:prstGeom prst="rect">
            <a:avLst/>
          </a:prstGeom>
          <a:solidFill>
            <a:srgbClr val="EDE3D8"/>
          </a:solidFill>
          <a:ln w="635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11480" y="373075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統計方法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" y="4197096"/>
            <a:ext cx="566224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Paired t-test：驗證同一人在高低噪音下的成績差異是否顯著（p &lt; 0.05）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Pearson 相關係數：分貝數和答對率之間的線性關係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Cohen's d：量化噪音的影響程度大小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1664208"/>
            <a:ext cx="2971800" cy="384048"/>
          </a:xfrm>
          <a:prstGeom prst="rect">
            <a:avLst/>
          </a:prstGeom>
          <a:solidFill>
            <a:srgbClr val="EDE3D8"/>
          </a:solidFill>
          <a:ln w="635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760720" y="166420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噪音分類標準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06440" y="221284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安靜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01968" y="22128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45 dB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06440" y="248716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圖書館、家中深夜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06440" y="299008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中等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01968" y="29900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45–65 dB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06440" y="326440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一般辦公室、捷運外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06440" y="376732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吵鬧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01968" y="37673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65 dB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06440" y="404164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咖啡廳、宿舍走廊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60720" y="4572000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依據：Stansfeld &amp; Matheson (2003)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49808"/>
            <a:ext cx="397764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892040" y="749808"/>
            <a:ext cx="397764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256032" y="70408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887968" y="70408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389120" y="5669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09A"/>
                </a:solidFill>
              </a:rPr>
              <a:t>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4818888"/>
            <a:ext cx="850392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256032" y="477316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8796528" y="477316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B09A"/>
                </a:solidFill>
              </a:rPr>
              <a:t>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841248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A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目前進度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11480" y="1664208"/>
            <a:ext cx="3840480" cy="384048"/>
          </a:xfrm>
          <a:prstGeom prst="rect">
            <a:avLst/>
          </a:prstGeom>
          <a:solidFill>
            <a:srgbClr val="EDE3D8"/>
          </a:solidFill>
          <a:ln w="635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11480" y="1664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做完的部分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2231136"/>
            <a:ext cx="146304" cy="146304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94944" y="2176272"/>
            <a:ext cx="3771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文獻整理完畢（7篇，含吳思俞等2023年科展）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46304" cy="146304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94944" y="2602875"/>
            <a:ext cx="4105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確定實驗設計（within-subjects + Paired t-test）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146304" cy="146304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94944" y="309981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N-back 測試的核心邏輯寫完，可以正常跑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146304" cy="146304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94944" y="3712464"/>
            <a:ext cx="336499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FastAPI 後端架構建好，/result 和 /stats 端點都能呼叫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00600" y="1664208"/>
            <a:ext cx="3840480" cy="384048"/>
          </a:xfrm>
          <a:prstGeom prst="rect">
            <a:avLst/>
          </a:prstGeom>
          <a:solidFill>
            <a:srgbClr val="EDE3D8"/>
          </a:solidFill>
          <a:ln w="635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800600" y="1664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踩坑紀錄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2249424"/>
            <a:ext cx="146304" cy="146304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5084064" y="2212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Expo AV 在 Android 背景收音問題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84064" y="2468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測試發現 Android 系統在 APP 移至背景時會自動暫停麥克風，導致30秒收音中斷。目前在研究 Foreground Service 的解法，或改成讓畫面常駐。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846320" y="3438144"/>
            <a:ext cx="146304" cy="146304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5084064" y="3401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分貝校正偏移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084064" y="3657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Expo AV 回傳的是 dBFS（負值），要換算成環境分貝需要加上偏移量。不同手機偏移量不同，目前用固定值 +90，之後要想辦法校正。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49808"/>
            <a:ext cx="397764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892040" y="749808"/>
            <a:ext cx="397764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256032" y="70408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887968" y="70408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389120" y="5669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09A"/>
                </a:solidFill>
              </a:rPr>
              <a:t>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4818888"/>
            <a:ext cx="850392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256032" y="477316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8796528" y="477316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B09A"/>
                </a:solidFill>
              </a:rPr>
              <a:t>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841248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A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這做出來能幹嘛？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11480" y="1664208"/>
            <a:ext cx="3840480" cy="384048"/>
          </a:xfrm>
          <a:prstGeom prst="rect">
            <a:avLst/>
          </a:prstGeom>
          <a:solidFill>
            <a:srgbClr val="EDE3D8"/>
          </a:solidFill>
          <a:ln w="635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11480" y="1664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研究貢獻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2231136"/>
            <a:ext cx="146304" cy="146304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94944" y="217627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前人研究在實驗室做，生態效度不足；本系統在真實環境量測，可以補這個缺口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146304" cy="146304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94944" y="29260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提供一個可重製的工具——任何人都可以用這個APP收集自己的噪音×認知資料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146304" cy="146304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94944" y="367588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within-subjects 設計控制個人差異，統計結果更有說服力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800600" y="1664208"/>
            <a:ext cx="3840480" cy="384048"/>
          </a:xfrm>
          <a:prstGeom prst="rect">
            <a:avLst/>
          </a:prstGeom>
          <a:solidFill>
            <a:srgbClr val="EDE3D8"/>
          </a:solidFill>
          <a:ln w="6350">
            <a:solidFill>
              <a:srgbClr val="C8B0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800600" y="1664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3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實際用途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846320" y="2231136"/>
            <a:ext cx="146304" cy="146304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084064" y="217627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個人化建議：APP 可以告訴你「你在幾分貝下表現最好」，幫你選讀書地點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846320" y="2980944"/>
            <a:ext cx="146304" cy="146304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5084064" y="29260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不需要跑到實驗室，開APP就能自己測，對一般同學而言門檻很低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846320" y="3730752"/>
            <a:ext cx="146304" cy="146304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5084064" y="367588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4A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之後可以延伸：加入更多認知測試、或者做成團體版看班級平均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D4C4B-E2E5-080F-34A9-587AD8EF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C4745E-8E54-FCD8-E597-60EC7F5F5CEC}"/>
              </a:ext>
            </a:extLst>
          </p:cNvPr>
          <p:cNvSpPr/>
          <p:nvPr/>
        </p:nvSpPr>
        <p:spPr>
          <a:xfrm>
            <a:off x="320040" y="298763"/>
            <a:ext cx="397764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CA1AD4-8BBB-C80A-CC30-3502141A744A}"/>
              </a:ext>
            </a:extLst>
          </p:cNvPr>
          <p:cNvSpPr/>
          <p:nvPr/>
        </p:nvSpPr>
        <p:spPr>
          <a:xfrm>
            <a:off x="4892040" y="298763"/>
            <a:ext cx="397764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8441366-D42B-D00D-228B-612883D61733}"/>
              </a:ext>
            </a:extLst>
          </p:cNvPr>
          <p:cNvSpPr/>
          <p:nvPr/>
        </p:nvSpPr>
        <p:spPr>
          <a:xfrm>
            <a:off x="256032" y="253043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CE3181B-318C-1E29-E3B7-EC3CCE6E0882}"/>
              </a:ext>
            </a:extLst>
          </p:cNvPr>
          <p:cNvSpPr/>
          <p:nvPr/>
        </p:nvSpPr>
        <p:spPr>
          <a:xfrm>
            <a:off x="8887968" y="253043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3F60D00-1D5E-D225-909D-F9A2DBA5CE1C}"/>
              </a:ext>
            </a:extLst>
          </p:cNvPr>
          <p:cNvSpPr/>
          <p:nvPr/>
        </p:nvSpPr>
        <p:spPr>
          <a:xfrm>
            <a:off x="4389120" y="5669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8B0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✦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DAECA09-5D31-672E-969C-BFE68C3C46FE}"/>
              </a:ext>
            </a:extLst>
          </p:cNvPr>
          <p:cNvSpPr/>
          <p:nvPr/>
        </p:nvSpPr>
        <p:spPr>
          <a:xfrm>
            <a:off x="320040" y="4818888"/>
            <a:ext cx="850392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E26EB05-B8BD-EEB8-30CC-32A33DB1245E}"/>
              </a:ext>
            </a:extLst>
          </p:cNvPr>
          <p:cNvSpPr/>
          <p:nvPr/>
        </p:nvSpPr>
        <p:spPr>
          <a:xfrm>
            <a:off x="256032" y="477316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FC5C357-8200-8D2E-A3BC-48091594185B}"/>
              </a:ext>
            </a:extLst>
          </p:cNvPr>
          <p:cNvSpPr/>
          <p:nvPr/>
        </p:nvSpPr>
        <p:spPr>
          <a:xfrm>
            <a:off x="8796528" y="4773168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BA5DD6E-662C-7F20-764F-EBE4AE5DBD0E}"/>
              </a:ext>
            </a:extLst>
          </p:cNvPr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8B0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0354D99-89AA-73F7-F88B-9016BDCEE007}"/>
              </a:ext>
            </a:extLst>
          </p:cNvPr>
          <p:cNvSpPr/>
          <p:nvPr/>
        </p:nvSpPr>
        <p:spPr>
          <a:xfrm>
            <a:off x="256032" y="34167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介面展示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B802211D-7CA4-A459-540E-4C9FF11F1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043" y="68579"/>
            <a:ext cx="2198781" cy="4764025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7E513383-4558-5018-B033-6EE919241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520" y="59791"/>
            <a:ext cx="2196670" cy="4759452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82E2115E-B362-59A3-8CA4-A81034AC2D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3006" y="59791"/>
            <a:ext cx="2196506" cy="47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04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4F081-B254-472A-6038-70A0525E0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D9B8BC1-6CBA-97A1-425B-CC0C5A11ADBC}"/>
              </a:ext>
            </a:extLst>
          </p:cNvPr>
          <p:cNvSpPr/>
          <p:nvPr/>
        </p:nvSpPr>
        <p:spPr>
          <a:xfrm>
            <a:off x="320040" y="1417320"/>
            <a:ext cx="850392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976BBAF-1B27-953A-920A-67295DD2E4FB}"/>
              </a:ext>
            </a:extLst>
          </p:cNvPr>
          <p:cNvSpPr/>
          <p:nvPr/>
        </p:nvSpPr>
        <p:spPr>
          <a:xfrm>
            <a:off x="320040" y="4343400"/>
            <a:ext cx="8503920" cy="0"/>
          </a:xfrm>
          <a:prstGeom prst="line">
            <a:avLst/>
          </a:prstGeom>
          <a:noFill/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128297D-CE64-2BD0-9D9C-1A1CFFCCAC58}"/>
              </a:ext>
            </a:extLst>
          </p:cNvPr>
          <p:cNvSpPr/>
          <p:nvPr/>
        </p:nvSpPr>
        <p:spPr>
          <a:xfrm>
            <a:off x="256032" y="1371600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F7DC367-ABA2-5C41-0641-EBE3415C82EF}"/>
              </a:ext>
            </a:extLst>
          </p:cNvPr>
          <p:cNvSpPr/>
          <p:nvPr/>
        </p:nvSpPr>
        <p:spPr>
          <a:xfrm>
            <a:off x="256032" y="4297680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1D77A3E-2227-9DF8-DC3B-2991952EF5BB}"/>
              </a:ext>
            </a:extLst>
          </p:cNvPr>
          <p:cNvSpPr/>
          <p:nvPr/>
        </p:nvSpPr>
        <p:spPr>
          <a:xfrm>
            <a:off x="8842248" y="1371600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BA19604-CD44-31BE-1FF5-50AF87265EB3}"/>
              </a:ext>
            </a:extLst>
          </p:cNvPr>
          <p:cNvSpPr/>
          <p:nvPr/>
        </p:nvSpPr>
        <p:spPr>
          <a:xfrm>
            <a:off x="8842248" y="4297680"/>
            <a:ext cx="109728" cy="109728"/>
          </a:xfrm>
          <a:prstGeom prst="ellipse">
            <a:avLst/>
          </a:prstGeom>
          <a:solidFill>
            <a:srgbClr val="C8B09A"/>
          </a:solidFill>
          <a:ln w="12700">
            <a:solidFill>
              <a:srgbClr val="C8B0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D8C5434-98CC-E311-1462-064356DB0C4E}"/>
              </a:ext>
            </a:extLst>
          </p:cNvPr>
          <p:cNvSpPr/>
          <p:nvPr/>
        </p:nvSpPr>
        <p:spPr>
          <a:xfrm>
            <a:off x="457200" y="204597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謝謝聆聽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532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401</Words>
  <Application>Microsoft Office PowerPoint</Application>
  <PresentationFormat>如螢幕大小 (16:9)</PresentationFormat>
  <Paragraphs>124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微軟正黑體</vt:lpstr>
      <vt:lpstr>Aptos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王麒茗</cp:lastModifiedBy>
  <cp:revision>2</cp:revision>
  <dcterms:created xsi:type="dcterms:W3CDTF">2026-04-20T18:33:47Z</dcterms:created>
  <dcterms:modified xsi:type="dcterms:W3CDTF">2026-04-21T12:53:13Z</dcterms:modified>
</cp:coreProperties>
</file>